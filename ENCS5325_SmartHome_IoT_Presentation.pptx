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7124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0138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ENCS5325 • Wireless Sensor Networks and Internet of Things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784080" y="650138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Birzeit University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8309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E7B8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8309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E7B8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4480560"/>
            <a:ext cx="4846320" cy="3291840"/>
          </a:xfrm>
          <a:prstGeom prst="arc">
            <a:avLst/>
          </a:prstGeom>
          <a:solidFill>
            <a:srgbClr val="17324D">
              <a:alpha val="0"/>
            </a:srgbClr>
          </a:solidFill>
          <a:ln w="25400">
            <a:solidFill>
              <a:srgbClr val="2A6D89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85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DADC"/>
                </a:solidFill>
              </a:rPr>
              <a:t>ENCS5325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89120" y="1078992"/>
            <a:ext cx="7040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Smart-Home IoT Network Design and Performance Evaluation Using OMNeT++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407408" y="25877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727E"/>
                </a:solidFill>
              </a:rPr>
              <a:t>Experimental study • IEEE 802.15.4 • OMNeT++ 6.3.0 • INET 4.6.0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07408" y="49834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13F"/>
                </a:solidFill>
              </a:rPr>
              <a:t>Wireless Sensor Networks and Internet of Things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313F"/>
                </a:solidFill>
              </a:rPr>
              <a:t>Birzeit University • Summer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07408" y="5806440"/>
            <a:ext cx="206889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5727E"/>
                </a:solidFill>
              </a:rPr>
              <a:t>By Nooreen AbuHmoud 1222470</a:t>
            </a:r>
            <a:endParaRPr lang="en-US" sz="1100" b="1" i="1" dirty="0"/>
          </a:p>
        </p:txBody>
      </p:sp>
      <p:sp>
        <p:nvSpPr>
          <p:cNvPr id="10" name="Text 8"/>
          <p:cNvSpPr/>
          <p:nvPr/>
        </p:nvSpPr>
        <p:spPr>
          <a:xfrm>
            <a:off x="594360" y="2650921"/>
            <a:ext cx="2743200" cy="16106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12-node smart-home baseline • 5 experiments • multi-seed quantitative evaluation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8309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E7B8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Goal &amp; Required Scenario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727E"/>
                </a:solidFill>
              </a:rPr>
              <a:t>What we built and what the project evaluates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640080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lnSpc>
                <a:spcPct val="200000"/>
              </a:lnSpc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smart-home IoT network and quantify how load, reporting interval, packet size, traffic type, and application strategy affect performance.</a:t>
            </a:r>
            <a:endParaRPr lang="en-US" sz="1500" dirty="0"/>
          </a:p>
          <a:p>
            <a:pPr marL="203200" indent="-203200">
              <a:lnSpc>
                <a:spcPct val="200000"/>
              </a:lnSpc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constrained IEEE 802.15.4 access network with a gateway/border-router role and an IP/core monitoring application.</a:t>
            </a:r>
            <a:endParaRPr lang="en-US" sz="1500" dirty="0"/>
          </a:p>
          <a:p>
            <a:pPr marL="203200" indent="-203200">
              <a:lnSpc>
                <a:spcPct val="200000"/>
              </a:lnSpc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both periodic monitoring traffic and event-driven / critical traffic.</a:t>
            </a:r>
            <a:endParaRPr lang="en-US" sz="1500" dirty="0"/>
          </a:p>
          <a:p>
            <a:pPr marL="203200" indent="-203200">
              <a:lnSpc>
                <a:spcPct val="200000"/>
              </a:lnSpc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latency, reliability (PDR/loss), throughput, energy, and cross-layer fragmentation effects.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141732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417320"/>
            <a:ext cx="73152" cy="1143000"/>
          </a:xfrm>
          <a:prstGeom prst="rect">
            <a:avLst/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581912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5A7A"/>
                </a:solidFill>
              </a:rPr>
              <a:t>12+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589520" y="2075688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baseline smart-home devices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464040" y="141732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64040" y="1417320"/>
            <a:ext cx="73152" cy="1143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6920" y="1581912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A9D8F"/>
                </a:solidFill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9646920" y="2075688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mandatory traffic classes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06640" y="278892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2788920"/>
            <a:ext cx="73152" cy="1143000"/>
          </a:xfrm>
          <a:prstGeom prst="rect">
            <a:avLst/>
          </a:prstGeom>
          <a:solidFill>
            <a:srgbClr val="E98B2A"/>
          </a:solidFill>
          <a:ln w="12700">
            <a:solidFill>
              <a:srgbClr val="E98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2953512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98B2A"/>
                </a:solidFill>
              </a:rPr>
              <a:t>5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589520" y="3447288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independent seeds per key point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64040" y="278892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64040" y="2788920"/>
            <a:ext cx="73152" cy="1143000"/>
          </a:xfrm>
          <a:prstGeom prst="rect">
            <a:avLst/>
          </a:prstGeom>
          <a:solidFill>
            <a:srgbClr val="6B6ECF"/>
          </a:solidFill>
          <a:ln w="12700">
            <a:solidFill>
              <a:srgbClr val="6B6E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46920" y="2953512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6B6ECF"/>
                </a:solidFill>
              </a:rPr>
              <a:t>5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9646920" y="3447288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evaluation studies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06640" y="425196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4251960"/>
            <a:ext cx="393192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71232" y="4398264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Engineering question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71232" y="4727448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How far can the network scale while preserving timely and reliable delivery — and what does that cost in traffic and energy?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8309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E7B8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 &amp; Simulation Boundary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727E"/>
                </a:solidFill>
              </a:rPr>
              <a:t>Same topology is reused across the controlled experiments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EAF4F7"/>
          </a:solidFill>
          <a:ln w="15240">
            <a:solidFill>
              <a:srgbClr val="D8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901952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Smart-Home Devices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Sensors + Actuators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703320" y="1645920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E7F3EE"/>
          </a:solidFill>
          <a:ln w="15240">
            <a:solidFill>
              <a:srgbClr val="D8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13048" y="1901952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IoT Gateway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IEEE 802.15.4 ↔ IP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0" y="1645920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FFF3E5"/>
          </a:solidFill>
          <a:ln w="15240">
            <a:solidFill>
              <a:srgbClr val="D8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76288" y="1901952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PPP / IP Core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372600" y="164592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F1ECFA"/>
          </a:solidFill>
          <a:ln w="15240">
            <a:solidFill>
              <a:srgbClr val="D8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2328" y="1901952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Monitoring Server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Application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99232" y="1984248"/>
            <a:ext cx="530352" cy="384048"/>
          </a:xfrm>
          <a:prstGeom prst="chevron">
            <a:avLst/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35331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5A7A"/>
                </a:solidFill>
              </a:rPr>
              <a:t>IEEE 802.15.4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08192" y="1984248"/>
            <a:ext cx="530352" cy="384048"/>
          </a:xfrm>
          <a:prstGeom prst="chevron">
            <a:avLst/>
          </a:prstGeom>
          <a:solidFill>
            <a:srgbClr val="E98B2A"/>
          </a:solidFill>
          <a:ln w="12700">
            <a:solidFill>
              <a:srgbClr val="E98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3533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98B2A"/>
                </a:solidFill>
              </a:rPr>
              <a:t>IP forwarding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98280" y="1984248"/>
            <a:ext cx="320040" cy="384048"/>
          </a:xfrm>
          <a:prstGeom prst="chevron">
            <a:avLst/>
          </a:prstGeom>
          <a:solidFill>
            <a:srgbClr val="6B6ECF"/>
          </a:solidFill>
          <a:ln w="12700">
            <a:solidFill>
              <a:srgbClr val="6B6E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Implemented end-to-end stack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749040"/>
            <a:ext cx="4206240" cy="384048"/>
          </a:xfrm>
          <a:prstGeom prst="roundRect">
            <a:avLst>
              <a:gd name="adj" fmla="val 11905"/>
            </a:avLst>
          </a:prstGeom>
          <a:solidFill>
            <a:srgbClr val="EAF4F7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8404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Application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83080" y="384048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13F"/>
                </a:solidFill>
              </a:rPr>
              <a:t>UdpBasicApp / UdpEchoApp / UdpSink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4224528"/>
            <a:ext cx="4206240" cy="384048"/>
          </a:xfrm>
          <a:prstGeom prst="roundRect">
            <a:avLst>
              <a:gd name="adj" fmla="val 11905"/>
            </a:avLst>
          </a:prstGeom>
          <a:solidFill>
            <a:srgbClr val="E7F3EE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31596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Transport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83080" y="431596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13F"/>
                </a:solidFill>
              </a:rPr>
              <a:t>UDP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700016"/>
            <a:ext cx="4206240" cy="384048"/>
          </a:xfrm>
          <a:prstGeom prst="roundRect">
            <a:avLst>
              <a:gd name="adj" fmla="val 11905"/>
            </a:avLst>
          </a:prstGeom>
          <a:solidFill>
            <a:srgbClr val="FFF3E5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79145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Network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83080" y="479145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13F"/>
                </a:solidFill>
              </a:rPr>
              <a:t>IPv4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" y="5175504"/>
            <a:ext cx="4206240" cy="384048"/>
          </a:xfrm>
          <a:prstGeom prst="roundRect">
            <a:avLst>
              <a:gd name="adj" fmla="val 11905"/>
            </a:avLst>
          </a:prstGeom>
          <a:solidFill>
            <a:srgbClr val="F1ECFA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52669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Access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783080" y="526694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13F"/>
                </a:solidFill>
              </a:rPr>
              <a:t>IEEE 802.15.4 narrowband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532120" y="3355848"/>
            <a:ext cx="56235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32120" y="3355848"/>
            <a:ext cx="5623560" cy="54864"/>
          </a:xfrm>
          <a:prstGeom prst="rect">
            <a:avLst/>
          </a:prstGeom>
          <a:solidFill>
            <a:srgbClr val="C75050"/>
          </a:solidFill>
          <a:ln w="12700">
            <a:solidFill>
              <a:srgbClr val="C75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96712" y="3502152"/>
            <a:ext cx="529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7324D"/>
                </a:solidFill>
              </a:rPr>
              <a:t>6LoWPAN scope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696712" y="3831336"/>
            <a:ext cx="52943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65727E"/>
                </a:solidFill>
              </a:rPr>
              <a:t>The simulator does NOT claim a full IPv6/6LoWPAN adaptation layer. Packet-size results come from the current IPv4/UDP INET model; RFC 4944/6282 are used separately for analytical fragmentation and airtime estimates.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788152" y="5897880"/>
            <a:ext cx="2011680" cy="310896"/>
          </a:xfrm>
          <a:prstGeom prst="roundRect">
            <a:avLst>
              <a:gd name="adj" fmla="val 35294"/>
            </a:avLst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43016" y="5961888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SIMULATED: IPv4 / UDP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01000" y="5897880"/>
            <a:ext cx="2743200" cy="310896"/>
          </a:xfrm>
          <a:prstGeom prst="roundRect">
            <a:avLst>
              <a:gd name="adj" fmla="val 35294"/>
            </a:avLst>
          </a:prstGeom>
          <a:solidFill>
            <a:srgbClr val="E98B2A"/>
          </a:solidFill>
          <a:ln w="12700">
            <a:solidFill>
              <a:srgbClr val="E98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55864" y="5961888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ANALYTICAL: 6LoWPAN</a:t>
            </a:r>
            <a:endParaRPr lang="en-US" sz="9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8309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E7B8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Design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727E"/>
                </a:solidFill>
              </a:rPr>
              <a:t>Controlled sweeps, common baseline, and multi-seed statistics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471468"/>
              </p:ext>
            </p:extLst>
          </p:nvPr>
        </p:nvGraphicFramePr>
        <p:xfrm>
          <a:off x="685800" y="1417318"/>
          <a:ext cx="10835640" cy="347346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9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Study</a:t>
                      </a:r>
                      <a:endParaRPr lang="en-US" sz="12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Sweep / comparison</a:t>
                      </a:r>
                      <a:endParaRPr lang="en-US" sz="12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Duration</a:t>
                      </a:r>
                      <a:endParaRPr lang="en-US" sz="12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Key outputs</a:t>
                      </a:r>
                      <a:endParaRPr lang="en-US" sz="12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9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Exp. 1</a:t>
                      </a:r>
                      <a:endParaRPr lang="en-US" sz="12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+mj-cs"/>
                        </a:rPr>
                        <a:t>N = 5, 10, 20, 30, 40</a:t>
                      </a:r>
                      <a:endParaRPr lang="en-US" sz="1400" b="0" dirty="0">
                        <a:latin typeface="Aptos" charset="0"/>
                        <a:ea typeface="Aptos" charset="0"/>
                        <a:cs typeface="+mj-cs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+mj-cs"/>
                        </a:rPr>
                        <a:t>100 s</a:t>
                      </a:r>
                      <a:endParaRPr lang="en-US" sz="1400" b="0" dirty="0">
                        <a:latin typeface="Aptos" charset="0"/>
                        <a:ea typeface="Aptos" charset="0"/>
                        <a:cs typeface="+mj-cs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+mj-cs"/>
                        </a:rPr>
                        <a:t>PDR, delay, throughput, energy</a:t>
                      </a:r>
                      <a:endParaRPr lang="en-US" sz="1400" b="0" dirty="0">
                        <a:latin typeface="Aptos" charset="0"/>
                        <a:ea typeface="Aptos" charset="0"/>
                        <a:cs typeface="+mj-cs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9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Exp. 2</a:t>
                      </a:r>
                      <a:endParaRPr lang="en-US" sz="12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+mj-cs"/>
                        </a:rPr>
                        <a:t>T = 1, 5, 10, 30, 60 s</a:t>
                      </a:r>
                      <a:endParaRPr lang="en-US" sz="1400" b="0" dirty="0">
                        <a:latin typeface="Aptos" charset="0"/>
                        <a:ea typeface="Aptos" charset="0"/>
                        <a:cs typeface="+mj-cs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+mj-cs"/>
                        </a:rPr>
                        <a:t>600 s</a:t>
                      </a:r>
                      <a:endParaRPr lang="en-US" sz="1400" b="0" dirty="0">
                        <a:latin typeface="Aptos" charset="0"/>
                        <a:ea typeface="Aptos" charset="0"/>
                        <a:cs typeface="+mj-cs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+mj-cs"/>
                        </a:rPr>
                        <a:t>PDR, delay, total energy</a:t>
                      </a:r>
                      <a:endParaRPr lang="en-US" sz="1400" b="0" dirty="0">
                        <a:latin typeface="Aptos" charset="0"/>
                        <a:ea typeface="Aptos" charset="0"/>
                        <a:cs typeface="+mj-cs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9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Exp. 3</a:t>
                      </a:r>
                      <a:endParaRPr lang="en-US" sz="12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+mj-cs"/>
                        </a:rPr>
                        <a:t>5 background-load levels</a:t>
                      </a:r>
                      <a:endParaRPr lang="en-US" sz="1400" b="0" dirty="0">
                        <a:latin typeface="Aptos" charset="0"/>
                        <a:ea typeface="Aptos" charset="0"/>
                        <a:cs typeface="+mj-cs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+mj-cs"/>
                        </a:rPr>
                        <a:t>100 s</a:t>
                      </a:r>
                      <a:endParaRPr lang="en-US" sz="1400" b="0" dirty="0">
                        <a:latin typeface="Aptos" charset="0"/>
                        <a:ea typeface="Aptos" charset="0"/>
                        <a:cs typeface="+mj-cs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+mj-cs"/>
                        </a:rPr>
                        <a:t>critical delay, loss, max delay</a:t>
                      </a:r>
                      <a:endParaRPr lang="en-US" sz="1400" b="0" dirty="0">
                        <a:latin typeface="Aptos" charset="0"/>
                        <a:ea typeface="Aptos" charset="0"/>
                        <a:cs typeface="+mj-cs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9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Exp. 4</a:t>
                      </a:r>
                      <a:endParaRPr lang="en-US" sz="12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+mj-cs"/>
                        </a:rPr>
                        <a:t>RR vs PUB at T = 1…60 s</a:t>
                      </a:r>
                      <a:endParaRPr lang="en-US" sz="1400" b="0" dirty="0">
                        <a:latin typeface="Aptos" charset="0"/>
                        <a:ea typeface="Aptos" charset="0"/>
                        <a:cs typeface="+mj-cs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+mj-cs"/>
                        </a:rPr>
                        <a:t>600 s</a:t>
                      </a:r>
                      <a:endParaRPr lang="en-US" sz="1400" b="0" dirty="0">
                        <a:latin typeface="Aptos" charset="0"/>
                        <a:ea typeface="Aptos" charset="0"/>
                        <a:cs typeface="+mj-cs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+mj-cs"/>
                        </a:rPr>
                        <a:t>delivery, latency, packet cost</a:t>
                      </a:r>
                      <a:endParaRPr lang="en-US" sz="1400" b="0" dirty="0">
                        <a:latin typeface="Aptos" charset="0"/>
                        <a:ea typeface="Aptos" charset="0"/>
                        <a:cs typeface="+mj-cs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9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Packet size</a:t>
                      </a:r>
                      <a:endParaRPr lang="en-US" sz="12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+mj-cs"/>
                        </a:rPr>
                        <a:t>20…500 B simulated; 20…400 B required analytically</a:t>
                      </a:r>
                      <a:endParaRPr lang="en-US" sz="1400" b="0" dirty="0">
                        <a:latin typeface="Aptos" charset="0"/>
                        <a:ea typeface="Aptos" charset="0"/>
                        <a:cs typeface="+mj-cs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+mj-cs"/>
                        </a:rPr>
                        <a:t>600 s</a:t>
                      </a:r>
                      <a:endParaRPr lang="en-US" sz="1400" b="0" dirty="0">
                        <a:latin typeface="Aptos" charset="0"/>
                        <a:ea typeface="Aptos" charset="0"/>
                        <a:cs typeface="+mj-cs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+mj-cs"/>
                        </a:rPr>
                        <a:t>PDR, delay, energy, fragments</a:t>
                      </a:r>
                      <a:endParaRPr lang="en-US" sz="1400" b="0" dirty="0">
                        <a:latin typeface="Aptos" charset="0"/>
                        <a:ea typeface="Aptos" charset="0"/>
                        <a:cs typeface="+mj-cs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685800" y="1417320"/>
            <a:ext cx="10835640" cy="5029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15727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901952" y="157276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Sweep / comparison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212080" y="15727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Duration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55080" y="157276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outputs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53492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5349240"/>
            <a:ext cx="73152" cy="868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551383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A9D8F"/>
                </a:solidFill>
              </a:rPr>
              <a:t>5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960120" y="6007608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independent repetitions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926080" y="53492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26080" y="5349240"/>
            <a:ext cx="73152" cy="868680"/>
          </a:xfrm>
          <a:prstGeom prst="rect">
            <a:avLst/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08960" y="551383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5A7A"/>
                </a:solidFill>
              </a:rPr>
              <a:t>50 B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108960" y="6007608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baseline application payload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74920" y="53492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74920" y="5349240"/>
            <a:ext cx="73152" cy="868680"/>
          </a:xfrm>
          <a:prstGeom prst="rect">
            <a:avLst/>
          </a:prstGeom>
          <a:solidFill>
            <a:srgbClr val="E98B2A"/>
          </a:solidFill>
          <a:ln w="12700">
            <a:solidFill>
              <a:srgbClr val="E98B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57800" y="551383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98B2A"/>
                </a:solidFill>
              </a:rPr>
              <a:t>10 s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5257800" y="6007608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baseline reporting interval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223760" y="53492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23760" y="5349240"/>
            <a:ext cx="73152" cy="868680"/>
          </a:xfrm>
          <a:prstGeom prst="rect">
            <a:avLst/>
          </a:prstGeom>
          <a:solidFill>
            <a:srgbClr val="C75050"/>
          </a:solidFill>
          <a:ln w="12700">
            <a:solidFill>
              <a:srgbClr val="C7505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06640" y="551383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C75050"/>
                </a:solidFill>
              </a:rPr>
              <a:t>100 ms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7406640" y="6007608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critical-event target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372600" y="53492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372600" y="5349240"/>
            <a:ext cx="73152" cy="868680"/>
          </a:xfrm>
          <a:prstGeom prst="rect">
            <a:avLst/>
          </a:prstGeom>
          <a:solidFill>
            <a:srgbClr val="6B6ECF"/>
          </a:solidFill>
          <a:ln w="12700">
            <a:solidFill>
              <a:srgbClr val="6B6E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555480" y="551383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6B6ECF"/>
                </a:solidFill>
              </a:rPr>
              <a:t>250 kbps</a:t>
            </a:r>
            <a:endParaRPr lang="en-US" sz="2300" dirty="0"/>
          </a:p>
        </p:txBody>
      </p:sp>
      <p:sp>
        <p:nvSpPr>
          <p:cNvPr id="29" name="Text 26"/>
          <p:cNvSpPr/>
          <p:nvPr/>
        </p:nvSpPr>
        <p:spPr>
          <a:xfrm>
            <a:off x="9555480" y="6007608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802.15.4 airtime basis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8309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E7B8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1 — Network Scalability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727E"/>
                </a:solidFill>
              </a:rPr>
              <a:t>Increasing the number of active periodic sensors from 5 to 40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9496" y="1362456"/>
            <a:ext cx="6830568" cy="4178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pic>
        <p:nvPicPr>
          <p:cNvPr id="5" name="Image 0" descr="/tmp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83238"/>
            <a:ext cx="6720840" cy="333724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4173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35240" y="1417320"/>
            <a:ext cx="73152" cy="1051560"/>
          </a:xfrm>
          <a:prstGeom prst="rect">
            <a:avLst/>
          </a:prstGeom>
          <a:solidFill>
            <a:srgbClr val="3A8D5D"/>
          </a:solidFill>
          <a:ln w="12700">
            <a:solidFill>
              <a:srgbClr val="3A8D5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18120" y="1581912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A8D5D"/>
                </a:solidFill>
              </a:rPr>
              <a:t>100%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818120" y="2075688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PDR at every 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509760" y="14173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0" y="1417320"/>
            <a:ext cx="73152" cy="1051560"/>
          </a:xfrm>
          <a:prstGeom prst="rect">
            <a:avLst/>
          </a:prstGeom>
          <a:solidFill>
            <a:srgbClr val="3A8D5D"/>
          </a:solidFill>
          <a:ln w="12700">
            <a:solidFill>
              <a:srgbClr val="3A8D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92640" y="1581912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A8D5D"/>
                </a:solidFill>
              </a:rPr>
              <a:t>0%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9692640" y="2075688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packet loss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635240" y="269748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35240" y="2697480"/>
            <a:ext cx="73152" cy="1051560"/>
          </a:xfrm>
          <a:prstGeom prst="rect">
            <a:avLst/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18120" y="2862072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5A7A"/>
                </a:solidFill>
              </a:rPr>
              <a:t>5.37→5.57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7818120" y="3355848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ms mean delay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509760" y="269748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509760" y="2697480"/>
            <a:ext cx="73152" cy="1051560"/>
          </a:xfrm>
          <a:prstGeom prst="rect">
            <a:avLst/>
          </a:prstGeom>
          <a:solidFill>
            <a:srgbClr val="E98B2A"/>
          </a:solidFill>
          <a:ln w="12700">
            <a:solidFill>
              <a:srgbClr val="E98B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92640" y="2862072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98B2A"/>
                </a:solidFill>
              </a:rPr>
              <a:t>200→1600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9692640" y="3355848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bps throughput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635240" y="406908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35240" y="4069080"/>
            <a:ext cx="356616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99832" y="4215384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Result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799832" y="4544568"/>
            <a:ext cx="3236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5727E"/>
                </a:solidFill>
              </a:rPr>
              <a:t>No significant congestion/contention was observed up to N = 40 under the baseline workload. Reliability stayed perfect while delay rose only slightly.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662672" y="5779008"/>
            <a:ext cx="3474720" cy="310896"/>
          </a:xfrm>
          <a:prstGeom prst="roundRect">
            <a:avLst>
              <a:gd name="adj" fmla="val 35294"/>
            </a:avLst>
          </a:prstGeom>
          <a:solidFill>
            <a:srgbClr val="3A8D5D"/>
          </a:solidFill>
          <a:ln w="12700">
            <a:solidFill>
              <a:srgbClr val="3A8D5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17536" y="5843016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Scalable under the tested baseline load</a:t>
            </a:r>
            <a:endParaRPr lang="en-US" sz="9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8309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E7B8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2 — Reporting Interval vs Energy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727E"/>
                </a:solidFill>
              </a:rPr>
              <a:t>Shorter reporting improves freshness, but dramatically raises network/battery cost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9496" y="1362456"/>
            <a:ext cx="6876288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pic>
        <p:nvPicPr>
          <p:cNvPr id="5" name="Image 0" descr="/tmp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72293"/>
            <a:ext cx="6766560" cy="32962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417320"/>
            <a:ext cx="16642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35240" y="1417320"/>
            <a:ext cx="73152" cy="1051560"/>
          </a:xfrm>
          <a:prstGeom prst="rect">
            <a:avLst/>
          </a:prstGeom>
          <a:solidFill>
            <a:srgbClr val="C75050"/>
          </a:solidFill>
          <a:ln w="12700">
            <a:solidFill>
              <a:srgbClr val="C750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18120" y="15819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C75050"/>
                </a:solidFill>
              </a:rPr>
              <a:t>16.15 J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818120" y="20756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T = 1 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464040" y="1417320"/>
            <a:ext cx="16642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64040" y="1417320"/>
            <a:ext cx="73152" cy="1051560"/>
          </a:xfrm>
          <a:prstGeom prst="rect">
            <a:avLst/>
          </a:prstGeom>
          <a:solidFill>
            <a:srgbClr val="3A8D5D"/>
          </a:solidFill>
          <a:ln w="12700">
            <a:solidFill>
              <a:srgbClr val="3A8D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46920" y="15819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A8D5D"/>
                </a:solidFill>
              </a:rPr>
              <a:t>0.31 J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9646920" y="20756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T = 60 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635240" y="2697480"/>
            <a:ext cx="16642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35240" y="2697480"/>
            <a:ext cx="73152" cy="10515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18120" y="28620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A9D8F"/>
                </a:solidFill>
              </a:rPr>
              <a:t>98.1%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7818120" y="33558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energy reduction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464040" y="2697480"/>
            <a:ext cx="16642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464040" y="2697480"/>
            <a:ext cx="73152" cy="1051560"/>
          </a:xfrm>
          <a:prstGeom prst="rect">
            <a:avLst/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46920" y="28620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5A7A"/>
                </a:solidFill>
              </a:rPr>
              <a:t>≈5.4 ms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9646920" y="33558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delay for T ≥ 5 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635240" y="4069080"/>
            <a:ext cx="349300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35240" y="4069080"/>
            <a:ext cx="3493008" cy="54864"/>
          </a:xfrm>
          <a:prstGeom prst="rect">
            <a:avLst/>
          </a:prstGeom>
          <a:solidFill>
            <a:srgbClr val="E98B2A"/>
          </a:solidFill>
          <a:ln w="12700">
            <a:solidFill>
              <a:srgbClr val="E98B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99832" y="421538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Trade-off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799832" y="454456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5727E"/>
                </a:solidFill>
              </a:rPr>
              <a:t>T = 10–30 s gives a practical balance: much lower total energy with essentially perfect delivery and low delay, at the cost of less frequent updates.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8309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E7B8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3 — Critical Event Under Background Traffic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727E"/>
                </a:solidFill>
              </a:rPr>
              <a:t>A 20 B smoke alarm is injected while ordinary sensors continue periodic reporting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9496" y="1362456"/>
            <a:ext cx="6830568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pic>
        <p:nvPicPr>
          <p:cNvPr id="5" name="Image 0" descr="/tmp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934" y="1417320"/>
            <a:ext cx="5873691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417320"/>
            <a:ext cx="16642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35240" y="1417320"/>
            <a:ext cx="73152" cy="1051560"/>
          </a:xfrm>
          <a:prstGeom prst="rect">
            <a:avLst/>
          </a:prstGeom>
          <a:solidFill>
            <a:srgbClr val="3A8D5D"/>
          </a:solidFill>
          <a:ln w="12700">
            <a:solidFill>
              <a:srgbClr val="3A8D5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18120" y="15819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A8D5D"/>
                </a:solidFill>
              </a:rPr>
              <a:t>100%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818120" y="20756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critical delivery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464040" y="1417320"/>
            <a:ext cx="16642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64040" y="1417320"/>
            <a:ext cx="73152" cy="1051560"/>
          </a:xfrm>
          <a:prstGeom prst="rect">
            <a:avLst/>
          </a:prstGeom>
          <a:solidFill>
            <a:srgbClr val="3A8D5D"/>
          </a:solidFill>
          <a:ln w="12700">
            <a:solidFill>
              <a:srgbClr val="3A8D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46920" y="15819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A8D5D"/>
                </a:solidFill>
              </a:rPr>
              <a:t>0%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9646920" y="20756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critical loss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635240" y="2697480"/>
            <a:ext cx="16642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35240" y="2697480"/>
            <a:ext cx="73152" cy="1051560"/>
          </a:xfrm>
          <a:prstGeom prst="rect">
            <a:avLst/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18120" y="28620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5A7A"/>
                </a:solidFill>
              </a:rPr>
              <a:t>5.58 ms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7818120" y="33558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worst observed delay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464040" y="2697480"/>
            <a:ext cx="16642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464040" y="2697480"/>
            <a:ext cx="73152" cy="1051560"/>
          </a:xfrm>
          <a:prstGeom prst="rect">
            <a:avLst/>
          </a:prstGeom>
          <a:solidFill>
            <a:srgbClr val="C75050"/>
          </a:solidFill>
          <a:ln w="12700">
            <a:solidFill>
              <a:srgbClr val="C750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46920" y="28620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C75050"/>
                </a:solidFill>
              </a:rPr>
              <a:t>100 ms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9646920" y="33558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engineering target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635240" y="4069080"/>
            <a:ext cx="349300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35240" y="4069080"/>
            <a:ext cx="3493008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99832" y="421538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Result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799832" y="454456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5727E"/>
                </a:solidFill>
              </a:rPr>
              <a:t>All 25 critical-event runs satisfied the latency target by a large margin. Higher load mainly increased run-to-run variation rather than mean delay.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8309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E7B8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4 — Request/Response vs Publish/Subscribe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727E"/>
                </a:solidFill>
              </a:rPr>
              <a:t>Same topology and intervals; different application communication strategies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93776" y="1362456"/>
            <a:ext cx="7424928" cy="4087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pic>
        <p:nvPicPr>
          <p:cNvPr id="5" name="Image 0" descr="/tmp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0620"/>
            <a:ext cx="7315200" cy="261104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92440" y="141732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92440" y="1417320"/>
            <a:ext cx="73152" cy="1005840"/>
          </a:xfrm>
          <a:prstGeom prst="rect">
            <a:avLst/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75320" y="1581912"/>
            <a:ext cx="1216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5A7A"/>
                </a:solidFill>
              </a:rPr>
              <a:t>≈12.4 ms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275320" y="2075688"/>
            <a:ext cx="1216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RR round-trip latency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784080" y="141732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784080" y="1417320"/>
            <a:ext cx="73152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966960" y="1581912"/>
            <a:ext cx="1216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A9D8F"/>
                </a:solidFill>
              </a:rPr>
              <a:t>≈5.65 ms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9966960" y="2075688"/>
            <a:ext cx="1216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PUB one-way delay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92440" y="265176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92440" y="2651760"/>
            <a:ext cx="73152" cy="1005840"/>
          </a:xfrm>
          <a:prstGeom prst="rect">
            <a:avLst/>
          </a:prstGeom>
          <a:solidFill>
            <a:srgbClr val="E98B2A"/>
          </a:solidFill>
          <a:ln w="12700">
            <a:solidFill>
              <a:srgbClr val="E98B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75320" y="2816352"/>
            <a:ext cx="1216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98B2A"/>
                </a:solidFill>
              </a:rPr>
              <a:t>2×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8275320" y="3310128"/>
            <a:ext cx="1216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RR app packets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784080" y="265176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784080" y="2651760"/>
            <a:ext cx="73152" cy="1005840"/>
          </a:xfrm>
          <a:prstGeom prst="rect">
            <a:avLst/>
          </a:prstGeom>
          <a:solidFill>
            <a:srgbClr val="3A8D5D"/>
          </a:solidFill>
          <a:ln w="12700">
            <a:solidFill>
              <a:srgbClr val="3A8D5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966960" y="2816352"/>
            <a:ext cx="1216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A8D5D"/>
                </a:solidFill>
              </a:rPr>
              <a:t>100%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9966960" y="3310128"/>
            <a:ext cx="1216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PUB delivery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092440" y="393192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92440" y="3931920"/>
            <a:ext cx="3200400" cy="54864"/>
          </a:xfrm>
          <a:prstGeom prst="rect">
            <a:avLst/>
          </a:prstGeom>
          <a:solidFill>
            <a:srgbClr val="6B6ECF"/>
          </a:solidFill>
          <a:ln w="12700">
            <a:solidFill>
              <a:srgbClr val="6B6E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57032" y="4078224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257032" y="4407408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5727E"/>
                </a:solidFill>
              </a:rPr>
              <a:t>The latency numbers are not a direct 2:1 speed comparison: RR measures round trip, while PUB measures one-way delay. The clear efficiency gain is traffic cost: publication uses 50% fewer application packets.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119872" y="5623560"/>
            <a:ext cx="3154680" cy="310896"/>
          </a:xfrm>
          <a:prstGeom prst="roundRect">
            <a:avLst>
              <a:gd name="adj" fmla="val 352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74736" y="5687568"/>
            <a:ext cx="3044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Lower forwarding load with publication</a:t>
            </a:r>
            <a:endParaRPr lang="en-US" sz="9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8309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E7B8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Cross-Layer Packet Size / 6LoWPAN Study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727E"/>
                </a:solidFill>
              </a:rPr>
              <a:t>Simulator-derived packet-size trends + separate RFC-based fragmentation analysis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48056" y="1271016"/>
            <a:ext cx="6967728" cy="3538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pic>
        <p:nvPicPr>
          <p:cNvPr id="5" name="Image 0" descr="/tmp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16455"/>
            <a:ext cx="6858000" cy="24478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3441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</a:rPr>
              <a:t>Analytical fragment estimate (required payloads)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737360"/>
          <a:ext cx="3566160" cy="224028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Payload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Fragments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Min airtime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 B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2.59 ms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 B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3.55 ms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 B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6.94 ms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 B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11.81 ms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400 B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23.20 ms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58368" y="498348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58368" y="4983480"/>
            <a:ext cx="5349240" cy="54864"/>
          </a:xfrm>
          <a:prstGeom prst="rect">
            <a:avLst/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7" name="Text 6"/>
          <p:cNvSpPr/>
          <p:nvPr/>
        </p:nvSpPr>
        <p:spPr>
          <a:xfrm>
            <a:off x="822960" y="5129784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Simulated trend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22960" y="5458968"/>
            <a:ext cx="5020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Mean delay rises from 4.44 ms (20 B) to 36.69 ms (500 B); PDR stays 100% through 250 B and falls to 99.639% at 500 B.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217920" y="498348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17920" y="4983480"/>
            <a:ext cx="4892040" cy="54864"/>
          </a:xfrm>
          <a:prstGeom prst="rect">
            <a:avLst/>
          </a:prstGeom>
          <a:solidFill>
            <a:srgbClr val="E98B2A"/>
          </a:solidFill>
          <a:ln w="12700">
            <a:solidFill>
              <a:srgbClr val="E98B2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82512" y="5129784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Cross-layer meaning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382512" y="5458968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More fragments mean more airtime, more energy, and more exposure to retransmissions. FRAG1/FRAGN counts are analytical approximations — not simulator traces.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8309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E7B8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Findings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727E"/>
                </a:solidFill>
              </a:rPr>
              <a:t>What the experiments say about this smart-home network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5074920" cy="54864"/>
          </a:xfrm>
          <a:prstGeom prst="rect">
            <a:avLst/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17904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Scalability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" y="1847088"/>
            <a:ext cx="4745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5727E"/>
                </a:solidFill>
              </a:rPr>
              <a:t>Baseline periodic traffic scaled to 40 active sensors with 100% PDR and only a small delay increase.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371600"/>
            <a:ext cx="507492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517904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Energy / freshness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82512" y="1847088"/>
            <a:ext cx="4745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5727E"/>
                </a:solidFill>
              </a:rPr>
              <a:t>Increasing reporting interval from 1 s to 60 s reduced total energy by ~98.1%.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944368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944368"/>
            <a:ext cx="5074920" cy="54864"/>
          </a:xfrm>
          <a:prstGeom prst="rect">
            <a:avLst/>
          </a:prstGeom>
          <a:solidFill>
            <a:srgbClr val="3A8D5D"/>
          </a:solidFill>
          <a:ln w="12700">
            <a:solidFill>
              <a:srgbClr val="3A8D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090672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Critical traffic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" y="3419856"/>
            <a:ext cx="4745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5727E"/>
                </a:solidFill>
              </a:rPr>
              <a:t>Every smoke alarm met the &lt;100 ms target; worst observed delay was ~5.58 ms.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944368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944368"/>
            <a:ext cx="5074920" cy="54864"/>
          </a:xfrm>
          <a:prstGeom prst="rect">
            <a:avLst/>
          </a:prstGeom>
          <a:solidFill>
            <a:srgbClr val="6B6ECF"/>
          </a:solidFill>
          <a:ln w="12700">
            <a:solidFill>
              <a:srgbClr val="6B6E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3090672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Application strategy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82512" y="3419856"/>
            <a:ext cx="4745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5727E"/>
                </a:solidFill>
              </a:rPr>
              <a:t>Publish/subscribe-like traffic used half the application packets of request/response polling.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517136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517136"/>
            <a:ext cx="5074920" cy="54864"/>
          </a:xfrm>
          <a:prstGeom prst="rect">
            <a:avLst/>
          </a:prstGeom>
          <a:solidFill>
            <a:srgbClr val="E98B2A"/>
          </a:solidFill>
          <a:ln w="12700">
            <a:solidFill>
              <a:srgbClr val="E98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4663440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Packet size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" y="4992624"/>
            <a:ext cx="4745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5727E"/>
                </a:solidFill>
              </a:rPr>
              <a:t>Large payloads increase latency and energy; fragmentation explains why constrained links become increasingly expensive.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517136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4517136"/>
            <a:ext cx="5074920" cy="54864"/>
          </a:xfrm>
          <a:prstGeom prst="rect">
            <a:avLst/>
          </a:prstGeom>
          <a:solidFill>
            <a:srgbClr val="C75050"/>
          </a:solidFill>
          <a:ln w="12700">
            <a:solidFill>
              <a:srgbClr val="C75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4663440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Engineering takeaway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82512" y="4992624"/>
            <a:ext cx="4745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5727E"/>
                </a:solidFill>
              </a:rPr>
              <a:t>Traffic policy and payload design matter before raw link capacity becomes the dominant limitation.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8309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E7B8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&amp; Reproducibility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727E"/>
                </a:solidFill>
              </a:rPr>
              <a:t>What the results do — and do not — prove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5050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16636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simulated end-to-end stack is IPv4/UDP; full IPv6/6LoWPAN adaptation behavior was not simulated.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Topology uses one constrained wireless access hop before the wired PPP core.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values depend on the chosen INET energy model and configured radio behavior.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repetitions quantify variability but do not exhaust all placement / interference conditions.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9D8F"/>
                </a:solidFill>
              </a:rPr>
              <a:t>Reproducibility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09360" y="1737360"/>
            <a:ext cx="507492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OMNeT++ 6.3.0 + INET 4.6.0.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independent repetitions using seed-set = ${repetition}.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Processed CSVs generated from OMNeT++ scalar/statistical outputs with opp_scavetool.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configuration sets and Python aggregation/plotting scripts reproduce the tables and figures.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5303520"/>
            <a:ext cx="10652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5303520"/>
            <a:ext cx="10652760" cy="5486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5449824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Evidence boundary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779008"/>
            <a:ext cx="10323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27E"/>
                </a:solidFill>
              </a:rPr>
              <a:t>Simulator-derived evidence and analytical 6LoWPAN estimates are explicitly labeled separately throughout the project.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8309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E7B8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4F8FB"/>
                </a:solidFill>
              </a:rPr>
              <a:t>The tested smart-home network remained highly reliable and low-latency under the required sweeps, while energy cost, application strategy, and payload fragmentation emerged as the main design trade-offs.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2880360"/>
            <a:ext cx="10789920" cy="0"/>
          </a:xfrm>
          <a:prstGeom prst="line">
            <a:avLst/>
          </a:prstGeom>
          <a:noFill/>
          <a:ln w="15240">
            <a:solidFill>
              <a:srgbClr val="5E7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DE0D5"/>
                </a:solidFill>
              </a:rPr>
              <a:t>Best design lessons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566160"/>
            <a:ext cx="640080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longer reporting intervals when freshness requirements allow it.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publish/subscribe-like updates for regular sensor reporting to reduce traffic overhead.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constrained-link payloads small enough to avoid fragmentation where practical.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412480" y="4434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7C7D2"/>
                </a:solidFill>
              </a:rPr>
              <a:t>Thank you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C0CC"/>
                </a:solidFill>
              </a:rPr>
              <a:t>Sources: ENCS5325 project specification; INET / OMNeT++ documentation; RFC 4944; RFC 6282.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8309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E7B8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1200</Words>
  <Application>Microsoft Office PowerPoint</Application>
  <PresentationFormat>Widescreen</PresentationFormat>
  <Paragraphs>223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Birzeit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Smart-Home IoT Network Design and Performance Evaluation Using OMNeT++</dc:title>
  <dc:subject>ENCS5325 Smart-Home IoT Project</dc:subject>
  <dc:creator>OpenAI</dc:creator>
  <cp:lastModifiedBy>nooreen murad</cp:lastModifiedBy>
  <cp:revision>3</cp:revision>
  <dcterms:created xsi:type="dcterms:W3CDTF">2026-09-14T18:55:27Z</dcterms:created>
  <dcterms:modified xsi:type="dcterms:W3CDTF">2026-09-14T19:05:43Z</dcterms:modified>
</cp:coreProperties>
</file>